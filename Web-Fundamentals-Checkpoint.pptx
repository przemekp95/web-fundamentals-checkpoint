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0fd01f83694317" /><Relationship Type="http://schemas.openxmlformats.org/officeDocument/2006/relationships/extended-properties" Target="/docProps/app.xml" Id="R648aa2432ea54040" /><Relationship Type="http://schemas.openxmlformats.org/officeDocument/2006/relationships/officeDocument" Target="/ppt/presentation.xml" Id="R406061d71f0840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39165f3e074636"/>
  </p:sldMasterIdLst>
  <p:notesMasterIdLst>
    <p:notesMasterId xmlns:r="http://schemas.openxmlformats.org/officeDocument/2006/relationships" r:id="R84528bc3bfc24af8"/>
  </p:notesMasterIdLst>
  <p:sldIdLst>
    <p:sldId xmlns:r="http://schemas.openxmlformats.org/officeDocument/2006/relationships" id="256" r:id="R1a871d35a177437a"/>
    <p:sldId xmlns:r="http://schemas.openxmlformats.org/officeDocument/2006/relationships" id="257" r:id="R55b06ef0e3774dfa"/>
    <p:sldId xmlns:r="http://schemas.openxmlformats.org/officeDocument/2006/relationships" id="258" r:id="Rcc690b9e2faa4f90"/>
    <p:sldId xmlns:r="http://schemas.openxmlformats.org/officeDocument/2006/relationships" id="259" r:id="R3f224ad68ef5414f"/>
    <p:sldId xmlns:r="http://schemas.openxmlformats.org/officeDocument/2006/relationships" id="260" r:id="R0dd5191ac67141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ad6cddab7b477d" /><Relationship Type="http://schemas.openxmlformats.org/officeDocument/2006/relationships/slideMaster" Target="/ppt/slideMasters/slideMaster1.xml" Id="R3139165f3e074636" /><Relationship Type="http://schemas.openxmlformats.org/officeDocument/2006/relationships/notesMaster" Target="/ppt/notesMasters/notesMaster1.xml" Id="R84528bc3bfc24af8" /><Relationship Type="http://schemas.openxmlformats.org/officeDocument/2006/relationships/presProps" Target="/ppt/presProps.xml" Id="R3952fe7099a14803" /><Relationship Type="http://schemas.openxmlformats.org/officeDocument/2006/relationships/tableStyles" Target="/ppt/tableStyles.xml" Id="R09f8887fdd5b42f3" /><Relationship Type="http://schemas.openxmlformats.org/officeDocument/2006/relationships/slide" Target="/ppt/slides/slide1.xml" Id="R1a871d35a177437a" /><Relationship Type="http://schemas.openxmlformats.org/officeDocument/2006/relationships/slide" Target="/ppt/slides/slide2.xml" Id="R55b06ef0e3774dfa" /><Relationship Type="http://schemas.openxmlformats.org/officeDocument/2006/relationships/slide" Target="/ppt/slides/slide3.xml" Id="Rcc690b9e2faa4f90" /><Relationship Type="http://schemas.openxmlformats.org/officeDocument/2006/relationships/slide" Target="/ppt/slides/slide4.xml" Id="R3f224ad68ef5414f" /><Relationship Type="http://schemas.openxmlformats.org/officeDocument/2006/relationships/slide" Target="/ppt/slides/slide5.xml" Id="R0dd5191ac67141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a1364640bb49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4fc46d296a4691" /><Relationship Type="http://schemas.openxmlformats.org/officeDocument/2006/relationships/notesMaster" Target="/ppt/notesMasters/notesMaster1.xml" Id="Rd398e4fc3bd84e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83ce48a8fc465c" /><Relationship Type="http://schemas.openxmlformats.org/officeDocument/2006/relationships/notesMaster" Target="/ppt/notesMasters/notesMaster1.xml" Id="R0fc280ee8aba41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a1b662124b4f5f" /><Relationship Type="http://schemas.openxmlformats.org/officeDocument/2006/relationships/notesMaster" Target="/ppt/notesMasters/notesMaster1.xml" Id="R9ea28ee1b3c74d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99cb8e5b5643ad" /><Relationship Type="http://schemas.openxmlformats.org/officeDocument/2006/relationships/notesMaster" Target="/ppt/notesMasters/notesMaster1.xml" Id="Rbee5ee0596f04f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25507473a64983" /><Relationship Type="http://schemas.openxmlformats.org/officeDocument/2006/relationships/notesMaster" Target="/ppt/notesMasters/notesMaster1.xml" Id="Rb51d4699239244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course sources: GOMYCODE, Web Architecture (clients and servers), https://student.learn.gomycode.com/courses/6317a7cd-91ee-4c01-8e6b-17e0d48bb0ca/nodes/57aee336-0765-4f23-acc7-07c21a34721e/kind/1 ; Protocols (HTTP requests), https://student.learn.gomycode.com/courses/6317a7cd-91ee-4c01-8e6b-17e0d48bb0ca/nodes/dfc46631-447f-48fa-9eb5-366ca9a1bae1/kind/1 . Additional technical detail on DNS, HTTPS and browser rendering: MDN, How the web works, https://developer.mozilla.org/en-US/docs/Learn_web_development/Getting_started/Web_standards/How_the_web_works . A simplified view: browsers may reuse cached resources and make many requests. Sources accessed 22 October 2026. Course links require a GOMYCODE login.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course source: GOMYCODE, Web Development, section The Skills of a Web Developer, https://student.learn.gomycode.com/courses/6317a7cd-91ee-4c01-8e6b-17e0d48bb0ca/nodes/fc4ef137-7839-45ea-88ef-0ffd81fc2c34/kind/1 . The lesson explains HTML as content, CSS as presentation and JavaScript as interactivity. Supplemental definitions and examples: MDN, Core learning modules, https://developer.mozilla.org/en-US/docs/Learn_web_development/Core . Sources accessed 22 October 2026. Course links require a GOMYCODE login.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course sources: GOMYCODE, Web Development, sections Types of Web Developers and The Skills of a Web Developer, https://student.learn.gomycode.com/courses/6317a7cd-91ee-4c01-8e6b-17e0d48bb0ca/nodes/fc4ef137-7839-45ea-88ef-0ffd81fc2c34/kind/1 (building and maintaining websites, new features, debugging, collaboration and front-end/back-end/full-stack roles); Create a website with code, https://student.learn.gomycode.com/courses/6317a7cd-91ee-4c01-8e6b-17e0d48bb0ca/nodes/5668af5e-8465-4c60-b2cc-c18a51fd2b02/kind/1 (editor, browser, Git/GitHub and a first HTML page); Web Fundamentals Checkpoint, https://student.learn.gomycode.com/courses/6317a7cd-91ee-4c01-8e6b-17e0d48bb0ca/checkpoints/bb531eb2-46dd-417e-8efd-657e68e1e9d6 (research, keyword searching and learning how to learn). My learning path is a proposed personal progression based on these lessons, not a mandatory sequence or a promise of employment. Sources accessed 22 October 2026. Course links require a GOMYCODE login.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Personal motivation supplied by the student: career development, gaining new skills and reaching higher seniority. This is a learning goal, not a claim that completing the course guarantees a particular role.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87ff7ccdf942a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56ddaf8e7b423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772c3ab4c84c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8a626cfaea46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1fb79ea79749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d049bdba4b48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C4E4B1-84E9-4DD8-A75F-B65D0DB32D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174CAEF-2113-4B8B-A58B-27B180705AE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6214BA6-1C19-4694-B647-AA9A150358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1F560F-8B97-45CF-B0AA-2C94C7C9D0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66A5434-AA12-4296-B4A0-1745BB125E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A56E47-5922-4684-9A12-4DD2EF8849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38353A-1BB2-4D17-A9F9-AE59479F22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9A7B63A-2169-4D46-AB7A-A98F25519D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7005D8-284F-46F2-B63E-4A9364ED5D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D20173-FE52-4F58-AD8B-5F6C9DDBEE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3c27a8390144a4" /><Relationship Type="http://schemas.openxmlformats.org/officeDocument/2006/relationships/slideLayout" Target="/ppt/slideLayouts/slideLayout1.xml" Id="R00c66404d5ae47e3" /><Relationship Type="http://schemas.openxmlformats.org/officeDocument/2006/relationships/slideLayout" Target="/ppt/slideLayouts/slideLayout2.xml" Id="Rd84ffd6d2ffb48c3" /><Relationship Type="http://schemas.openxmlformats.org/officeDocument/2006/relationships/slideLayout" Target="/ppt/slideLayouts/slideLayout3.xml" Id="R9a4828cf9a8d466e" /><Relationship Type="http://schemas.openxmlformats.org/officeDocument/2006/relationships/slideLayout" Target="/ppt/slideLayouts/slideLayout4.xml" Id="Rbb402ac337ab4944" /><Relationship Type="http://schemas.openxmlformats.org/officeDocument/2006/relationships/slideLayout" Target="/ppt/slideLayouts/slideLayout5.xml" Id="R3c852f01e5f24b54" /><Relationship Type="http://schemas.openxmlformats.org/officeDocument/2006/relationships/slideLayout" Target="/ppt/slideLayouts/slideLayout6.xml" Id="R5f274189f8374c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c66404d5ae47e3"/>
    <p:sldLayoutId xmlns:r="http://schemas.openxmlformats.org/officeDocument/2006/relationships" id="2147483650" r:id="Rd84ffd6d2ffb48c3"/>
    <p:sldLayoutId xmlns:r="http://schemas.openxmlformats.org/officeDocument/2006/relationships" id="2147483651" r:id="R9a4828cf9a8d466e"/>
    <p:sldLayoutId xmlns:r="http://schemas.openxmlformats.org/officeDocument/2006/relationships" id="2147483652" r:id="Rbb402ac337ab4944"/>
    <p:sldLayoutId xmlns:r="http://schemas.openxmlformats.org/officeDocument/2006/relationships" id="2147483653" r:id="R3c852f01e5f24b54"/>
    <p:sldLayoutId xmlns:r="http://schemas.openxmlformats.org/officeDocument/2006/relationships" id="2147483654" r:id="R5f274189f8374c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a88faa4e1b4f64" /><Relationship Type="http://schemas.openxmlformats.org/officeDocument/2006/relationships/notesSlide" Target="/ppt/notesSlides/notesSlide1.xml" Id="R8819a10f1bb248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e2fc7e2e1545be" /><Relationship Type="http://schemas.openxmlformats.org/officeDocument/2006/relationships/hyperlink" Target="https://student.learn.gomycode.com/courses/6317a7cd-91ee-4c01-8e6b-17e0d48bb0ca/nodes/57aee336-0765-4f23-acc7-07c21a34721e/kind/1" TargetMode="External" Id="R02438154c4354104" /><Relationship Type="http://schemas.openxmlformats.org/officeDocument/2006/relationships/hyperlink" Target="https://student.learn.gomycode.com/courses/6317a7cd-91ee-4c01-8e6b-17e0d48bb0ca/nodes/dfc46631-447f-48fa-9eb5-366ca9a1bae1/kind/1" TargetMode="External" Id="Re65517090ab44e20" /><Relationship Type="http://schemas.openxmlformats.org/officeDocument/2006/relationships/hyperlink" Target="https://developer.mozilla.org/en-US/docs/Learn_web_development/Getting_started/Web_standards/How_the_web_works" TargetMode="External" Id="R06f00eab2ce34d71" /><Relationship Type="http://schemas.openxmlformats.org/officeDocument/2006/relationships/notesSlide" Target="/ppt/notesSlides/notesSlide2.xml" Id="Ra75cacd1d2e740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93533d73874fb5" /><Relationship Type="http://schemas.openxmlformats.org/officeDocument/2006/relationships/hyperlink" Target="https://student.learn.gomycode.com/courses/6317a7cd-91ee-4c01-8e6b-17e0d48bb0ca/nodes/fc4ef137-7839-45ea-88ef-0ffd81fc2c34/kind/1" TargetMode="External" Id="Re4e8310aad9d40c4" /><Relationship Type="http://schemas.openxmlformats.org/officeDocument/2006/relationships/hyperlink" Target="https://developer.mozilla.org/en-US/docs/Learn_web_development/Core" TargetMode="External" Id="R11647e4115e54fa4" /><Relationship Type="http://schemas.openxmlformats.org/officeDocument/2006/relationships/notesSlide" Target="/ppt/notesSlides/notesSlide3.xml" Id="R78dbb61da86547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6775f6b135404d" /><Relationship Type="http://schemas.openxmlformats.org/officeDocument/2006/relationships/hyperlink" Target="https://student.learn.gomycode.com/courses/6317a7cd-91ee-4c01-8e6b-17e0d48bb0ca/nodes/fc4ef137-7839-45ea-88ef-0ffd81fc2c34/kind/1" TargetMode="External" Id="R78d6a39c6b1d4b71" /><Relationship Type="http://schemas.openxmlformats.org/officeDocument/2006/relationships/hyperlink" Target="https://student.learn.gomycode.com/courses/6317a7cd-91ee-4c01-8e6b-17e0d48bb0ca/nodes/5668af5e-8465-4c60-b2cc-c18a51fd2b02/kind/1" TargetMode="External" Id="R315de9a31db246d2" /><Relationship Type="http://schemas.openxmlformats.org/officeDocument/2006/relationships/hyperlink" Target="https://student.learn.gomycode.com/courses/6317a7cd-91ee-4c01-8e6b-17e0d48bb0ca/checkpoints/bb531eb2-46dd-417e-8efd-657e68e1e9d6" TargetMode="External" Id="Rb67cd1f9e8664373" /><Relationship Type="http://schemas.openxmlformats.org/officeDocument/2006/relationships/notesSlide" Target="/ppt/notesSlides/notesSlide4.xml" Id="R185433bc1da742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854da9dd2e4bad" /><Relationship Type="http://schemas.openxmlformats.org/officeDocument/2006/relationships/notesSlide" Target="/ppt/notesSlides/notesSlide5.xml" Id="Rcee54ad0acfc4f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5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21C7C-E142-4B42-84D0-CFE4B185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Web Fundamentals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C83EC-47EC-4651-85BB-77BA278C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8C5CF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0">
                <a:solidFill>
                  <a:srgbClr val="B8C5CF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0">
                <a:solidFill>
                  <a:srgbClr val="B8C5CF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0">
                <a:solidFill>
                  <a:srgbClr val="B8C5CF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0">
                <a:solidFill>
                  <a:srgbClr val="B8C5CF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0">
                <a:solidFill>
                  <a:srgbClr val="B8C5CF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0">
                <a:solidFill>
                  <a:srgbClr val="B8C5CF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0">
                <a:solidFill>
                  <a:srgbClr val="B8C5CF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0">
                <a:solidFill>
                  <a:srgbClr val="B8C5CF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0">
                <a:solidFill>
                  <a:srgbClr val="B8C5C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8C5CF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B8C5CF"/>
                </a:solidFill>
                <a:latin typeface="Noto Sans"/>
                <a:ea typeface="Noto Sans"/>
                <a:cs typeface="Noto Sans"/>
              </a:rPr>
              <a:t>1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762DF-EDEA-486C-9C9F-FEB8C359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19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>
              <a:defRPr sz="46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>
              <a:defRPr sz="46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>
              <a:defRPr sz="46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>
              <a:defRPr sz="46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>
              <a:defRPr sz="46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>
              <a:defRPr sz="46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>
              <a:defRPr sz="46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>
              <a:defRPr sz="46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>
              <a:defRPr sz="46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46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465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How the web works</a:t>
            </a:r>
          </a:p>
          <a:p xmlns:a="http://schemas.openxmlformats.org/drawingml/2006/main">
            <a:pPr>
              <a:defRPr sz="465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465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and what I need to learn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671F2-1B33-4192-930C-CCABC384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C8D6DF"/>
                </a:solidFill>
                <a:latin typeface="Noto Sans"/>
                <a:ea typeface="Noto Sans"/>
                <a:cs typeface="Noto Sans"/>
              </a:defRPr>
            </a:defPPr>
            <a:lvl1pPr>
              <a:defRPr sz="2025" b="0">
                <a:solidFill>
                  <a:srgbClr val="C8D6DF"/>
                </a:solidFill>
                <a:latin typeface="Noto Sans"/>
                <a:ea typeface="Noto Sans"/>
                <a:cs typeface="Noto Sans"/>
              </a:defRPr>
            </a:lvl1pPr>
            <a:lvl2pPr>
              <a:defRPr sz="2025" b="0">
                <a:solidFill>
                  <a:srgbClr val="C8D6DF"/>
                </a:solidFill>
                <a:latin typeface="Noto Sans"/>
                <a:ea typeface="Noto Sans"/>
                <a:cs typeface="Noto Sans"/>
              </a:defRPr>
            </a:lvl2pPr>
            <a:lvl3pPr>
              <a:defRPr sz="2025" b="0">
                <a:solidFill>
                  <a:srgbClr val="C8D6DF"/>
                </a:solidFill>
                <a:latin typeface="Noto Sans"/>
                <a:ea typeface="Noto Sans"/>
                <a:cs typeface="Noto Sans"/>
              </a:defRPr>
            </a:lvl3pPr>
            <a:lvl4pPr>
              <a:defRPr sz="2025" b="0">
                <a:solidFill>
                  <a:srgbClr val="C8D6DF"/>
                </a:solidFill>
                <a:latin typeface="Noto Sans"/>
                <a:ea typeface="Noto Sans"/>
                <a:cs typeface="Noto Sans"/>
              </a:defRPr>
            </a:lvl4pPr>
            <a:lvl5pPr>
              <a:defRPr sz="2025" b="0">
                <a:solidFill>
                  <a:srgbClr val="C8D6DF"/>
                </a:solidFill>
                <a:latin typeface="Noto Sans"/>
                <a:ea typeface="Noto Sans"/>
                <a:cs typeface="Noto Sans"/>
              </a:defRPr>
            </a:lvl5pPr>
            <a:lvl6pPr>
              <a:defRPr sz="2025" b="0">
                <a:solidFill>
                  <a:srgbClr val="C8D6DF"/>
                </a:solidFill>
                <a:latin typeface="Noto Sans"/>
                <a:ea typeface="Noto Sans"/>
                <a:cs typeface="Noto Sans"/>
              </a:defRPr>
            </a:lvl6pPr>
            <a:lvl7pPr>
              <a:defRPr sz="2025" b="0">
                <a:solidFill>
                  <a:srgbClr val="C8D6DF"/>
                </a:solidFill>
                <a:latin typeface="Noto Sans"/>
                <a:ea typeface="Noto Sans"/>
                <a:cs typeface="Noto Sans"/>
              </a:defRPr>
            </a:lvl7pPr>
            <a:lvl8pPr>
              <a:defRPr sz="2025" b="0">
                <a:solidFill>
                  <a:srgbClr val="C8D6DF"/>
                </a:solidFill>
                <a:latin typeface="Noto Sans"/>
                <a:ea typeface="Noto Sans"/>
                <a:cs typeface="Noto Sans"/>
              </a:defRPr>
            </a:lvl8pPr>
            <a:lvl9pPr>
              <a:defRPr sz="2025" b="0">
                <a:solidFill>
                  <a:srgbClr val="C8D6D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C8D6DF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C8D6DF"/>
                </a:solidFill>
                <a:latin typeface="Noto Sans"/>
                <a:ea typeface="Noto Sans"/>
                <a:cs typeface="Noto Sans"/>
              </a:rPr>
              <a:t>Przemysław</a:t>
            </a:r>
          </a:p>
          <a:p xmlns:a="http://schemas.openxmlformats.org/drawingml/2006/main">
            <a:pPr>
              <a:defRPr sz="2025" b="0">
                <a:solidFill>
                  <a:srgbClr val="C8D6DF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C8D6DF"/>
                </a:solidFill>
                <a:latin typeface="Noto Sans"/>
                <a:ea typeface="Noto Sans"/>
                <a:cs typeface="Noto Sans"/>
              </a:rPr>
              <a:t>GOMYCODE · Web Fundamentals Checkpoint</a:t>
            </a:r>
          </a:p>
        </p:txBody>
      </p:sp>
    </p:spTree>
    <p:extLst>
      <p:ext uri="{BB962C8B-B14F-4D97-AF65-F5344CB8AC3E}">
        <p14:creationId xmlns:p14="http://schemas.microsoft.com/office/powerpoint/2010/main" val="17393651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656E5-2D3F-4359-9044-44EDC087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defPPr>
            <a:lvl1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lvl1pPr>
            <a:lvl2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lvl2pPr>
            <a:lvl3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lvl3pPr>
            <a:lvl4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lvl4pPr>
            <a:lvl5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lvl5pPr>
            <a:lvl6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lvl6pPr>
            <a:lvl7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lvl7pPr>
            <a:lvl8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lvl8pPr>
            <a:lvl9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rPr>
              <a:t>How the web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7BB40-B6CA-4096-A6E0-88E2891C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rPr>
              <a:t>2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0F823-A28A-4721-8DDA-5715D346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1. Enter a web address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D3D48-B849-44BD-AD77-814A65EC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33550"/>
            <a:ext cx="695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defPPr>
            <a:lvl1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1pPr>
            <a:lvl2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2pPr>
            <a:lvl3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3pPr>
            <a:lvl4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4pPr>
            <a:lvl5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5pPr>
            <a:lvl6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6pPr>
            <a:lvl7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7pPr>
            <a:lvl8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8pPr>
            <a:lvl9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rPr>
              <a:t>The browser uses DNS to find the server’s IP address.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13EBC-6A57-4C76-859C-17863423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2. Request the page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24238-6F1B-420A-A9D8-A33DAD7F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62250"/>
            <a:ext cx="695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defPPr>
            <a:lvl1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1pPr>
            <a:lvl2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2pPr>
            <a:lvl3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3pPr>
            <a:lvl4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4pPr>
            <a:lvl5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5pPr>
            <a:lvl6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6pPr>
            <a:lvl7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7pPr>
            <a:lvl8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8pPr>
            <a:lvl9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rPr>
              <a:t>The browser sends an HTTP request. HTTPS encrypts the connection.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2C553-AEE2-40F4-B1FD-7965C4A6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3. Receive the response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CAAB0-4BA3-4D76-9E48-E3843A54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90950"/>
            <a:ext cx="695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defPPr>
            <a:lvl1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1pPr>
            <a:lvl2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2pPr>
            <a:lvl3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3pPr>
            <a:lvl4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4pPr>
            <a:lvl5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5pPr>
            <a:lvl6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6pPr>
            <a:lvl7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7pPr>
            <a:lvl8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8pPr>
            <a:lvl9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rPr>
              <a:t>The server returns the requested resources, such as HTML.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89287-1EC5-4407-96EB-875DEFFB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4. Display the website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17D961-A237-4F15-B407-54B402FA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19650"/>
            <a:ext cx="695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defPPr>
            <a:lvl1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1pPr>
            <a:lvl2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2pPr>
            <a:lvl3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3pPr>
            <a:lvl4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4pPr>
            <a:lvl5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5pPr>
            <a:lvl6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6pPr>
            <a:lvl7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7pPr>
            <a:lvl8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8pPr>
            <a:lvl9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230"/>
                </a:solidFill>
                <a:latin typeface="Noto Sans"/>
                <a:ea typeface="Noto Sans"/>
                <a:cs typeface="Noto Sans"/>
              </a:rPr>
              <a:t>The browser processes HTML, loads CSS and JavaScript, and displays the page.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D4865-7E7B-48E0-B07C-45AED8B4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defPPr>
            <a:lvl1pPr>
              <a:defRPr sz="1650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1pPr>
            <a:lvl2pPr>
              <a:defRPr sz="1650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2pPr>
            <a:lvl3pPr>
              <a:defRPr sz="1650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3pPr>
            <a:lvl4pPr>
              <a:defRPr sz="1650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4pPr>
            <a:lvl5pPr>
              <a:defRPr sz="1650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5pPr>
            <a:lvl6pPr>
              <a:defRPr sz="1650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6pPr>
            <a:lvl7pPr>
              <a:defRPr sz="1650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7pPr>
            <a:lvl8pPr>
              <a:defRPr sz="1650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8pPr>
            <a:lvl9pPr>
              <a:defRPr sz="1650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52616B"/>
                </a:solidFill>
                <a:latin typeface="Noto Sans"/>
                <a:ea typeface="Noto Sans"/>
                <a:cs typeface="Noto Sans"/>
              </a:rPr>
              <a:t>The internet connects networks. The web is one service that uses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7FA7E-6772-4CC1-AD5E-20D44C9C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57925"/>
            <a:ext cx="976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defPPr>
            <a:lvl1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1pPr>
            <a:lvl2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2pPr>
            <a:lvl3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3pPr>
            <a:lvl4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4pPr>
            <a:lvl5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5pPr>
            <a:lvl6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6pPr>
            <a:lvl7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7pPr>
            <a:lvl8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8pPr>
            <a:lvl9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pPr>
            <a:r>
              <a:rPr sz="1275">
                <a:solidFill>
                  <a:srgbClr val="52616B"/>
                </a:solidFill>
                <a:latin typeface="Noto Sans"/>
                <a:ea typeface="Noto Sans"/>
                <a:cs typeface="Noto Sans"/>
              </a:rPr>
              <a:t>Sources: </a:t>
            </a:r>
            <a:r>
              <a:rPr sz="1275" u="sng">
                <a:solidFill>
                  <a:srgbClr val="087F8C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02438154c4354104"/>
              </a:rPr>
              <a:t>GOMYCODE: Web Architecture</a:t>
            </a:r>
            <a:r>
              <a:rPr sz="1275">
                <a:solidFill>
                  <a:srgbClr val="52616B"/>
                </a:solidFill>
                <a:latin typeface="Noto Sans"/>
                <a:ea typeface="Noto Sans"/>
                <a:cs typeface="Noto Sans"/>
              </a:rPr>
              <a:t>  ·  </a:t>
            </a:r>
            <a:r>
              <a:rPr sz="1275" u="sng">
                <a:solidFill>
                  <a:srgbClr val="087F8C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e65517090ab44e20"/>
              </a:rPr>
              <a:t>Protocols</a:t>
            </a:r>
            <a:r>
              <a:rPr sz="1275">
                <a:solidFill>
                  <a:srgbClr val="52616B"/>
                </a:solidFill>
                <a:latin typeface="Noto Sans"/>
                <a:ea typeface="Noto Sans"/>
                <a:cs typeface="Noto Sans"/>
              </a:rPr>
              <a:t>  ·  </a:t>
            </a:r>
            <a:r>
              <a:rPr sz="1275" u="sng">
                <a:solidFill>
                  <a:srgbClr val="087F8C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06f00eab2ce34d71"/>
              </a:rPr>
              <a:t>MDN: details</a:t>
            </a:r>
          </a:p>
        </p:txBody>
      </p:sp>
    </p:spTree>
    <p:extLst>
      <p:ext uri="{BB962C8B-B14F-4D97-AF65-F5344CB8AC3E}">
        <p14:creationId xmlns:p14="http://schemas.microsoft.com/office/powerpoint/2010/main" val="12566236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831279-17CE-431A-9BAB-E3F4B961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defPPr>
            <a:lvl1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lvl1pPr>
            <a:lvl2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lvl2pPr>
            <a:lvl3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lvl3pPr>
            <a:lvl4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lvl4pPr>
            <a:lvl5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lvl5pPr>
            <a:lvl6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lvl6pPr>
            <a:lvl7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lvl7pPr>
            <a:lvl8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lvl8pPr>
            <a:lvl9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rPr>
              <a:t>The basic languages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A5F19-C754-47C4-858D-8CC37BA2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rPr>
              <a:t>3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BACAF-CDF5-4438-B304-E446BC32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HTML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82075-9670-4CBC-B043-D61BBFF1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defPPr>
            <a:lvl1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1pPr>
            <a:lvl2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2pPr>
            <a:lvl3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3pPr>
            <a:lvl4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4pPr>
            <a:lvl5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5pPr>
            <a:lvl6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6pPr>
            <a:lvl7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7pPr>
            <a:lvl8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8pPr>
            <a:lvl9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rPr>
              <a:t>What the page contains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F7745-470A-4261-9548-D0B56ED5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3209925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defPPr>
            <a:lvl1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1pPr>
            <a:lvl2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2pPr>
            <a:lvl3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3pPr>
            <a:lvl4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4pPr>
            <a:lvl5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5pPr>
            <a:lvl6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6pPr>
            <a:lvl7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7pPr>
            <a:lvl8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8pPr>
            <a:lvl9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rPr>
              <a:t>HyperText Markup Language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rPr>
              <a:t>Gives content structure and meaning: headings, paragraphs, links and forms.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8DD03-8244-4079-9FE6-65C318FA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9240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CSS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D46A5-F577-4C27-8419-33222417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24150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defPPr>
            <a:lvl1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1pPr>
            <a:lvl2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2pPr>
            <a:lvl3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3pPr>
            <a:lvl4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4pPr>
            <a:lvl5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5pPr>
            <a:lvl6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6pPr>
            <a:lvl7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7pPr>
            <a:lvl8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8pPr>
            <a:lvl9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rPr>
              <a:t>How the page looks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3043D-A160-4957-A364-49FB190A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676650"/>
            <a:ext cx="3209925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defPPr>
            <a:lvl1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1pPr>
            <a:lvl2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2pPr>
            <a:lvl3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3pPr>
            <a:lvl4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4pPr>
            <a:lvl5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5pPr>
            <a:lvl6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6pPr>
            <a:lvl7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7pPr>
            <a:lvl8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8pPr>
            <a:lvl9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rPr>
              <a:t>Cascading Style Sheets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rPr>
              <a:t>Controls layout, colours and fonts. Helps pages work on different screen sizes.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8F8E5B-A4D5-4D94-B155-37242078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240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3150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JavaScript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302C0-A317-4F69-8C97-97B40507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defPPr>
            <a:lvl1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1pPr>
            <a:lvl2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2pPr>
            <a:lvl3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3pPr>
            <a:lvl4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4pPr>
            <a:lvl5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5pPr>
            <a:lvl6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6pPr>
            <a:lvl7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7pPr>
            <a:lvl8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8pPr>
            <a:lvl9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72230"/>
                </a:solidFill>
                <a:latin typeface="Noto Sans"/>
                <a:ea typeface="Noto Sans"/>
                <a:cs typeface="Noto Sans"/>
              </a:rPr>
              <a:t>How the page responds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E5F5D-493D-42F0-9980-EEC4C53D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76650"/>
            <a:ext cx="3209925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defPPr>
            <a:lvl1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1pPr>
            <a:lvl2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2pPr>
            <a:lvl3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3pPr>
            <a:lvl4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4pPr>
            <a:lvl5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5pPr>
            <a:lvl6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6pPr>
            <a:lvl7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7pPr>
            <a:lvl8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8pPr>
            <a:lvl9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rPr>
              <a:t>A programming language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230"/>
                </a:solidFill>
                <a:latin typeface="Noto Sans"/>
                <a:ea typeface="Noto Sans"/>
                <a:cs typeface="Noto Sans"/>
              </a:rPr>
              <a:t>Handles clicks, checks form input and updates content without a full page reload.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88590B-BDAB-49E6-B5C8-5FA65DDE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57925"/>
            <a:ext cx="976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defPPr>
            <a:lvl1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1pPr>
            <a:lvl2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2pPr>
            <a:lvl3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3pPr>
            <a:lvl4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4pPr>
            <a:lvl5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5pPr>
            <a:lvl6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6pPr>
            <a:lvl7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7pPr>
            <a:lvl8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8pPr>
            <a:lvl9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pPr>
            <a:r>
              <a:rPr sz="1275">
                <a:solidFill>
                  <a:srgbClr val="52616B"/>
                </a:solidFill>
                <a:latin typeface="Noto Sans"/>
                <a:ea typeface="Noto Sans"/>
                <a:cs typeface="Noto Sans"/>
              </a:rPr>
              <a:t>Sources: </a:t>
            </a:r>
            <a:r>
              <a:rPr sz="1275" u="sng">
                <a:solidFill>
                  <a:srgbClr val="087F8C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e4e8310aad9d40c4"/>
              </a:rPr>
              <a:t>GOMYCODE: Web Development</a:t>
            </a:r>
            <a:r>
              <a:rPr sz="1275">
                <a:solidFill>
                  <a:srgbClr val="52616B"/>
                </a:solidFill>
                <a:latin typeface="Noto Sans"/>
                <a:ea typeface="Noto Sans"/>
                <a:cs typeface="Noto Sans"/>
              </a:rPr>
              <a:t>  ·  </a:t>
            </a:r>
            <a:r>
              <a:rPr sz="1275" u="sng">
                <a:solidFill>
                  <a:srgbClr val="087F8C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11647e4115e54fa4"/>
              </a:rPr>
              <a:t>MDN: language details</a:t>
            </a:r>
          </a:p>
        </p:txBody>
      </p:sp>
    </p:spTree>
    <p:extLst>
      <p:ext uri="{BB962C8B-B14F-4D97-AF65-F5344CB8AC3E}">
        <p14:creationId xmlns:p14="http://schemas.microsoft.com/office/powerpoint/2010/main" val="17258904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F1B21-E909-4FCF-8E52-9E195E25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defPPr>
            <a:lvl1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lvl1pPr>
            <a:lvl2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lvl2pPr>
            <a:lvl3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lvl3pPr>
            <a:lvl4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lvl4pPr>
            <a:lvl5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lvl5pPr>
            <a:lvl6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lvl6pPr>
            <a:lvl7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lvl7pPr>
            <a:lvl8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lvl8pPr>
            <a:lvl9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132536"/>
                </a:solidFill>
                <a:latin typeface="Noto Sans"/>
                <a:ea typeface="Noto Sans"/>
                <a:cs typeface="Noto Sans"/>
              </a:rPr>
              <a:t>What I need as a web developer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275EE-6F22-4106-98EA-2C7901DE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697580"/>
                </a:solidFill>
                <a:latin typeface="Noto Sans"/>
                <a:ea typeface="Noto Sans"/>
                <a:cs typeface="Noto Sans"/>
              </a:rPr>
              <a:t>4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7E1DB-396E-4C36-BDA7-0ACE745E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The role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D6A98-452D-4CE7-BF8E-5E808E73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4857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defPPr>
            <a:lvl1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1pPr>
            <a:lvl2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2pPr>
            <a:lvl3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3pPr>
            <a:lvl4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4pPr>
            <a:lvl5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5pPr>
            <a:lvl6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6pPr>
            <a:lvl7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7pPr>
            <a:lvl8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8pPr>
            <a:lvl9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rPr>
              <a:t>A web developer builds and maintains websites and web applications, adds features and fixes bugs. Developers also work together to solve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AB28E-0230-413D-8A47-CB869664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573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Tools and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9ADF8-18D9-401D-8D7E-EF5512DA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52650"/>
            <a:ext cx="5048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defPPr>
            <a:lvl1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1pPr>
            <a:lvl2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2pPr>
            <a:lvl3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3pPr>
            <a:lvl4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4pPr>
            <a:lvl5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5pPr>
            <a:lvl6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6pPr>
            <a:lvl7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7pPr>
            <a:lvl8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8pPr>
            <a:lvl9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rPr>
              <a:t>HTML, CSS and JavaScript</a:t>
            </a:r>
          </a:p>
          <a:p xmlns:a="http://schemas.openxmlformats.org/drawingml/2006/main">
            <a: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rPr>
              <a:t>VS Code and a browser with developer tools</a:t>
            </a:r>
          </a:p>
          <a:p xmlns:a="http://schemas.openxmlformats.org/drawingml/2006/main">
            <a: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rPr>
              <a:t>Git to track changes; GitHub to share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70A74-D89A-453E-8C21-D8DFBAA4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My learning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C5B1D-9715-4F3D-9B9A-41BF11DD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857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defPPr>
            <a:lvl1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1pPr>
            <a:lvl2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2pPr>
            <a:lvl3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3pPr>
            <a:lvl4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4pPr>
            <a:lvl5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5pPr>
            <a:lvl6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6pPr>
            <a:lvl7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7pPr>
            <a:lvl8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8pPr>
            <a:lvl9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rPr>
              <a:t>Learn HTML, CSS and JavaScript.</a:t>
            </a:r>
          </a:p>
          <a:p xmlns:a="http://schemas.openxmlformats.org/drawingml/2006/main">
            <a: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rPr>
              <a:t>Build small pages and practise Git.</a:t>
            </a:r>
          </a:p>
          <a:p xmlns:a="http://schemas.openxmlformats.org/drawingml/2006/main">
            <a: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rPr>
              <a:t>Then explore front-end or back-end work; full-stack combines both.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DCC0E-8CC0-43ED-BD05-E8EC0678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7190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How I will learn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247E8-6FAB-4648-95CE-94464D86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67200"/>
            <a:ext cx="5048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defPPr>
            <a:lvl1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1pPr>
            <a:lvl2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2pPr>
            <a:lvl3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3pPr>
            <a:lvl4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4pPr>
            <a:lvl5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5pPr>
            <a:lvl6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6pPr>
            <a:lvl7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7pPr>
            <a:lvl8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8pPr>
            <a:lvl9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rPr>
              <a:t>Break tasks into smaller steps.</a:t>
            </a:r>
          </a:p>
          <a:p xmlns:a="http://schemas.openxmlformats.org/drawingml/2006/main">
            <a: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rPr>
              <a:t>Search with precise keywords and read the documentation.</a:t>
            </a:r>
          </a:p>
          <a:p xmlns:a="http://schemas.openxmlformats.org/drawingml/2006/main">
            <a:pPr>
              <a:def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172230"/>
                </a:solidFill>
                <a:latin typeface="Noto Sans"/>
                <a:ea typeface="Noto Sans"/>
                <a:cs typeface="Noto Sans"/>
              </a:rPr>
              <a:t>Try examples, test and fix mistakes.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5A07C-D66C-4A69-BFC5-E19744B4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57925"/>
            <a:ext cx="976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defPPr>
            <a:lvl1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1pPr>
            <a:lvl2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2pPr>
            <a:lvl3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3pPr>
            <a:lvl4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4pPr>
            <a:lvl5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5pPr>
            <a:lvl6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6pPr>
            <a:lvl7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7pPr>
            <a:lvl8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8pPr>
            <a:lvl9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16B"/>
                </a:solidFill>
                <a:latin typeface="Noto Sans"/>
                <a:ea typeface="Noto Sans"/>
                <a:cs typeface="Noto Sans"/>
              </a:defRPr>
            </a:pPr>
            <a:r>
              <a:rPr sz="1275">
                <a:solidFill>
                  <a:srgbClr val="52616B"/>
                </a:solidFill>
                <a:latin typeface="Noto Sans"/>
                <a:ea typeface="Noto Sans"/>
                <a:cs typeface="Noto Sans"/>
              </a:rPr>
              <a:t>Sources: </a:t>
            </a:r>
            <a:r>
              <a:rPr sz="1275" u="sng">
                <a:solidFill>
                  <a:srgbClr val="087F8C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78d6a39c6b1d4b71"/>
              </a:rPr>
              <a:t>GOMYCODE: Web Development</a:t>
            </a:r>
            <a:r>
              <a:rPr sz="1275">
                <a:solidFill>
                  <a:srgbClr val="52616B"/>
                </a:solidFill>
                <a:latin typeface="Noto Sans"/>
                <a:ea typeface="Noto Sans"/>
                <a:cs typeface="Noto Sans"/>
              </a:rPr>
              <a:t>  ·  </a:t>
            </a:r>
            <a:r>
              <a:rPr sz="1275" u="sng">
                <a:solidFill>
                  <a:srgbClr val="087F8C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315de9a31db246d2"/>
              </a:rPr>
              <a:t>Create a website with code</a:t>
            </a:r>
            <a:r>
              <a:rPr sz="1275">
                <a:solidFill>
                  <a:srgbClr val="52616B"/>
                </a:solidFill>
                <a:latin typeface="Noto Sans"/>
                <a:ea typeface="Noto Sans"/>
                <a:cs typeface="Noto Sans"/>
              </a:rPr>
              <a:t>  ·  </a:t>
            </a:r>
            <a:r>
              <a:rPr sz="1275" u="sng">
                <a:solidFill>
                  <a:srgbClr val="087F8C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b67cd1f9e8664373"/>
              </a:rPr>
              <a:t>Checkpoint</a:t>
            </a:r>
          </a:p>
        </p:txBody>
      </p:sp>
    </p:spTree>
    <p:extLst>
      <p:ext uri="{BB962C8B-B14F-4D97-AF65-F5344CB8AC3E}">
        <p14:creationId xmlns:p14="http://schemas.microsoft.com/office/powerpoint/2010/main" val="19872209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325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65333-E3DC-4202-876F-E67E81E3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Why I want to learn web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757CE-DC7C-4FCB-A073-3B8BF07A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8C5CF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0">
                <a:solidFill>
                  <a:srgbClr val="B8C5CF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0">
                <a:solidFill>
                  <a:srgbClr val="B8C5CF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0">
                <a:solidFill>
                  <a:srgbClr val="B8C5CF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0">
                <a:solidFill>
                  <a:srgbClr val="B8C5CF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0">
                <a:solidFill>
                  <a:srgbClr val="B8C5CF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0">
                <a:solidFill>
                  <a:srgbClr val="B8C5CF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0">
                <a:solidFill>
                  <a:srgbClr val="B8C5CF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0">
                <a:solidFill>
                  <a:srgbClr val="B8C5CF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0">
                <a:solidFill>
                  <a:srgbClr val="B8C5C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8C5CF"/>
                </a:solidFill>
                <a:latin typeface="Noto Sans"/>
                <a:ea typeface="Noto Sans"/>
                <a:cs typeface="Noto Sans"/>
              </a:defRPr>
            </a:pPr>
            <a:r>
              <a:rPr sz="1350" b="0">
                <a:solidFill>
                  <a:srgbClr val="B8C5CF"/>
                </a:solidFill>
                <a:latin typeface="Noto Sans"/>
                <a:ea typeface="Noto Sans"/>
                <a:cs typeface="Noto Sans"/>
              </a:rPr>
              <a:t>5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1664D-BEBF-4BCE-B0D8-96399A31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10477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I want to develop professionally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6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and gain new technical skills.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DFF27-B59B-42A7-BEE5-43BC9556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10382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C8D6DF"/>
                </a:solidFill>
                <a:latin typeface="Noto Sans"/>
                <a:ea typeface="Noto Sans"/>
                <a:cs typeface="Noto Sans"/>
              </a:defRPr>
            </a:defPPr>
            <a:lvl1pPr>
              <a:defRPr sz="2400" b="0">
                <a:solidFill>
                  <a:srgbClr val="C8D6DF"/>
                </a:solidFill>
                <a:latin typeface="Noto Sans"/>
                <a:ea typeface="Noto Sans"/>
                <a:cs typeface="Noto Sans"/>
              </a:defRPr>
            </a:lvl1pPr>
            <a:lvl2pPr>
              <a:defRPr sz="2400" b="0">
                <a:solidFill>
                  <a:srgbClr val="C8D6DF"/>
                </a:solidFill>
                <a:latin typeface="Noto Sans"/>
                <a:ea typeface="Noto Sans"/>
                <a:cs typeface="Noto Sans"/>
              </a:defRPr>
            </a:lvl2pPr>
            <a:lvl3pPr>
              <a:defRPr sz="2400" b="0">
                <a:solidFill>
                  <a:srgbClr val="C8D6DF"/>
                </a:solidFill>
                <a:latin typeface="Noto Sans"/>
                <a:ea typeface="Noto Sans"/>
                <a:cs typeface="Noto Sans"/>
              </a:defRPr>
            </a:lvl3pPr>
            <a:lvl4pPr>
              <a:defRPr sz="2400" b="0">
                <a:solidFill>
                  <a:srgbClr val="C8D6DF"/>
                </a:solidFill>
                <a:latin typeface="Noto Sans"/>
                <a:ea typeface="Noto Sans"/>
                <a:cs typeface="Noto Sans"/>
              </a:defRPr>
            </a:lvl4pPr>
            <a:lvl5pPr>
              <a:defRPr sz="2400" b="0">
                <a:solidFill>
                  <a:srgbClr val="C8D6DF"/>
                </a:solidFill>
                <a:latin typeface="Noto Sans"/>
                <a:ea typeface="Noto Sans"/>
                <a:cs typeface="Noto Sans"/>
              </a:defRPr>
            </a:lvl5pPr>
            <a:lvl6pPr>
              <a:defRPr sz="2400" b="0">
                <a:solidFill>
                  <a:srgbClr val="C8D6DF"/>
                </a:solidFill>
                <a:latin typeface="Noto Sans"/>
                <a:ea typeface="Noto Sans"/>
                <a:cs typeface="Noto Sans"/>
              </a:defRPr>
            </a:lvl6pPr>
            <a:lvl7pPr>
              <a:defRPr sz="2400" b="0">
                <a:solidFill>
                  <a:srgbClr val="C8D6DF"/>
                </a:solidFill>
                <a:latin typeface="Noto Sans"/>
                <a:ea typeface="Noto Sans"/>
                <a:cs typeface="Noto Sans"/>
              </a:defRPr>
            </a:lvl7pPr>
            <a:lvl8pPr>
              <a:defRPr sz="2400" b="0">
                <a:solidFill>
                  <a:srgbClr val="C8D6DF"/>
                </a:solidFill>
                <a:latin typeface="Noto Sans"/>
                <a:ea typeface="Noto Sans"/>
                <a:cs typeface="Noto Sans"/>
              </a:defRPr>
            </a:lvl8pPr>
            <a:lvl9pPr>
              <a:defRPr sz="2400" b="0">
                <a:solidFill>
                  <a:srgbClr val="C8D6D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C8D6DF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C8D6DF"/>
                </a:solidFill>
                <a:latin typeface="Noto Sans"/>
                <a:ea typeface="Noto Sans"/>
                <a:cs typeface="Noto Sans"/>
              </a:rPr>
              <a:t>My goal is to move towards a more senior role.</a:t>
            </a:r>
          </a:p>
          <a:p xmlns:a="http://schemas.openxmlformats.org/drawingml/2006/main">
            <a:pPr>
              <a:defRPr sz="2400" b="0">
                <a:solidFill>
                  <a:srgbClr val="C8D6DF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C8D6DF"/>
                </a:solidFill>
                <a:latin typeface="Noto Sans"/>
                <a:ea typeface="Noto Sans"/>
                <a:cs typeface="Noto Sans"/>
              </a:rPr>
              <a:t>I want to understand how websites work and build them myself.</a:t>
            </a:r>
          </a:p>
        </p:txBody>
      </p:sp>
    </p:spTree>
    <p:extLst>
      <p:ext uri="{BB962C8B-B14F-4D97-AF65-F5344CB8AC3E}">
        <p14:creationId xmlns:p14="http://schemas.microsoft.com/office/powerpoint/2010/main" val="347190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2026-10-22T20:03:02.5380000Z</dcterms:created>
  <dcterms:modified xsi:type="dcterms:W3CDTF">2026-10-22T20:03:02.5380000Z</dcterms:modified>
</coreProperties>
</file>